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8" r:id="rId3"/>
    <p:sldId id="257" r:id="rId4"/>
    <p:sldId id="259" r:id="rId5"/>
    <p:sldId id="260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460965B-1934-CE4E-ABE3-B20C3815CD32}">
          <p14:sldIdLst/>
        </p14:section>
        <p14:section name="digit-sum puzzle template" id="{19FE81DF-A145-AF46-96D5-8E5A1288CCA1}">
          <p14:sldIdLst>
            <p14:sldId id="256"/>
          </p14:sldIdLst>
        </p14:section>
        <p14:section name="crazy friday" id="{B3D11D7C-D90E-9847-B3BE-4C4B1B81E36B}">
          <p14:sldIdLst>
            <p14:sldId id="258"/>
          </p14:sldIdLst>
        </p14:section>
        <p14:section name="table background" id="{5B4C4F5A-C433-7A44-BCB7-648DBE8561F4}">
          <p14:sldIdLst>
            <p14:sldId id="257"/>
          </p14:sldIdLst>
        </p14:section>
        <p14:section name="treasure game" id="{D9012E7B-2EA9-BB4C-8FCE-09E0AD6CFB7D}">
          <p14:sldIdLst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12"/>
    <p:restoredTop sz="94759"/>
  </p:normalViewPr>
  <p:slideViewPr>
    <p:cSldViewPr snapToGrid="0">
      <p:cViewPr>
        <p:scale>
          <a:sx n="146" d="100"/>
          <a:sy n="146" d="100"/>
        </p:scale>
        <p:origin x="8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4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15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3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39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0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8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3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60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762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E4798-33C2-F142-9124-DC0556E6F1A7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12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E4798-33C2-F142-9124-DC0556E6F1A7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18141-EABD-1941-A9BC-32C3BC21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2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3C4C9C7-7729-60FD-EB03-A265B51AD8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489617"/>
              </p:ext>
            </p:extLst>
          </p:nvPr>
        </p:nvGraphicFramePr>
        <p:xfrm>
          <a:off x="1132374" y="8851456"/>
          <a:ext cx="4572000" cy="276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">
                  <a:extLst>
                    <a:ext uri="{9D8B030D-6E8A-4147-A177-3AD203B41FA5}">
                      <a16:colId xmlns:a16="http://schemas.microsoft.com/office/drawing/2014/main" val="184657578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86451564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39983808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50362514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2090647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92540851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28730043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032531795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78039237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22435119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51238204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49352550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197831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45875590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90042439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412843791"/>
                    </a:ext>
                  </a:extLst>
                </a:gridCol>
              </a:tblGrid>
              <a:tr h="276999"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9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55164"/>
                  </a:ext>
                </a:extLst>
              </a:tr>
            </a:tbl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4E56B126-AE47-1AE2-C093-D5BC764E8455}"/>
              </a:ext>
            </a:extLst>
          </p:cNvPr>
          <p:cNvGrpSpPr/>
          <p:nvPr/>
        </p:nvGrpSpPr>
        <p:grpSpPr>
          <a:xfrm>
            <a:off x="360449" y="2922664"/>
            <a:ext cx="6153463" cy="5130800"/>
            <a:chOff x="180225" y="3431831"/>
            <a:chExt cx="6153463" cy="513080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7E2367D-2DB6-B9D3-AD3F-9A314E6DAD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1130"/>
            <a:stretch>
              <a:fillRect/>
            </a:stretch>
          </p:blipFill>
          <p:spPr>
            <a:xfrm>
              <a:off x="3505532" y="3431831"/>
              <a:ext cx="2828156" cy="513080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7074FC21-2C51-28D5-3A02-D759F143B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9851"/>
            <a:stretch>
              <a:fillRect/>
            </a:stretch>
          </p:blipFill>
          <p:spPr>
            <a:xfrm>
              <a:off x="180225" y="3431831"/>
              <a:ext cx="2902218" cy="5130800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218BA69E-8519-546C-A530-7C4B3ECFFB54}"/>
              </a:ext>
            </a:extLst>
          </p:cNvPr>
          <p:cNvSpPr/>
          <p:nvPr/>
        </p:nvSpPr>
        <p:spPr>
          <a:xfrm>
            <a:off x="180224" y="391282"/>
            <a:ext cx="649755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800" b="1" dirty="0">
                <a:ln/>
                <a:solidFill>
                  <a:schemeClr val="accent3"/>
                </a:solidFill>
                <a:latin typeface="Abadi" panose="020B0604020104020204" pitchFamily="34" charset="77"/>
              </a:rPr>
              <a:t>DIGIT-SUM SECRET SENTENCE PUZZLE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7351BA-1099-DCF3-A642-10F74FBA999C}"/>
              </a:ext>
            </a:extLst>
          </p:cNvPr>
          <p:cNvSpPr txBox="1"/>
          <p:nvPr/>
        </p:nvSpPr>
        <p:spPr>
          <a:xfrm>
            <a:off x="774780" y="878499"/>
            <a:ext cx="53084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badi MT Condensed Light" panose="020B0306030101010103" pitchFamily="34" charset="77"/>
              </a:rPr>
              <a:t>Solve each Problem. The answer will be a number and add its digits to get the sum. </a:t>
            </a:r>
          </a:p>
          <a:p>
            <a:pPr algn="ctr"/>
            <a:r>
              <a:rPr lang="en-US" sz="1400" dirty="0">
                <a:latin typeface="Abadi MT Condensed Light" panose="020B0306030101010103" pitchFamily="34" charset="77"/>
              </a:rPr>
              <a:t>Then match that sum to a letter using the table below.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C916250-37E9-0496-BF18-429E98E65917}"/>
              </a:ext>
            </a:extLst>
          </p:cNvPr>
          <p:cNvSpPr/>
          <p:nvPr/>
        </p:nvSpPr>
        <p:spPr>
          <a:xfrm>
            <a:off x="248192" y="1666568"/>
            <a:ext cx="2076566" cy="8996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>
                <a:latin typeface="Abadi MT Condensed Light" panose="020B0306030101010103" pitchFamily="34" charset="77"/>
              </a:rPr>
              <a:t>Example</a:t>
            </a:r>
            <a:r>
              <a:rPr lang="en-US" sz="1200" dirty="0">
                <a:latin typeface="Abadi MT Condensed Light" panose="020B0306030101010103" pitchFamily="34" charset="77"/>
              </a:rPr>
              <a:t>:</a:t>
            </a:r>
          </a:p>
          <a:p>
            <a:r>
              <a:rPr lang="en-US" sz="1200" dirty="0">
                <a:latin typeface="Abadi MT Condensed Light" panose="020B0306030101010103" pitchFamily="34" charset="77"/>
              </a:rPr>
              <a:t>21 – 11 = 10 </a:t>
            </a:r>
          </a:p>
          <a:p>
            <a:r>
              <a:rPr lang="en-US" sz="1200" dirty="0">
                <a:latin typeface="Abadi MT Condensed Light" panose="020B0306030101010103" pitchFamily="34" charset="77"/>
              </a:rPr>
              <a:t>1 + 0 = 1</a:t>
            </a:r>
          </a:p>
          <a:p>
            <a:r>
              <a:rPr lang="en-US" sz="1200" dirty="0">
                <a:latin typeface="Abadi MT Condensed Light" panose="020B0306030101010103" pitchFamily="34" charset="77"/>
              </a:rPr>
              <a:t>1 </a:t>
            </a:r>
            <a:r>
              <a:rPr lang="en-US" sz="1200" dirty="0">
                <a:latin typeface="Abadi MT Condensed Light" panose="020B0306030101010103" pitchFamily="34" charset="77"/>
                <a:sym typeface="Wingdings" pitchFamily="2" charset="2"/>
              </a:rPr>
              <a:t></a:t>
            </a:r>
            <a:r>
              <a:rPr lang="en-US" sz="1200" dirty="0">
                <a:latin typeface="Abadi MT Condensed Light" panose="020B0306030101010103" pitchFamily="34" charset="77"/>
              </a:rPr>
              <a:t>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B2D854-6B44-9B20-92B8-D690B6A9A9FF}"/>
              </a:ext>
            </a:extLst>
          </p:cNvPr>
          <p:cNvSpPr txBox="1"/>
          <p:nvPr/>
        </p:nvSpPr>
        <p:spPr>
          <a:xfrm>
            <a:off x="1190665" y="1866622"/>
            <a:ext cx="1134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1"/>
                </a:solidFill>
                <a:latin typeface="Abadi MT Condensed Light" panose="020B0306030101010103" pitchFamily="34" charset="77"/>
              </a:rPr>
              <a:t>2-digit answer</a:t>
            </a:r>
          </a:p>
          <a:p>
            <a:pPr algn="r"/>
            <a:r>
              <a:rPr lang="en-US" sz="1200" dirty="0">
                <a:solidFill>
                  <a:schemeClr val="accent1"/>
                </a:solidFill>
                <a:latin typeface="Abadi MT Condensed Light" panose="020B0306030101010103" pitchFamily="34" charset="77"/>
              </a:rPr>
              <a:t>Add the 2 digits</a:t>
            </a:r>
          </a:p>
          <a:p>
            <a:pPr algn="r"/>
            <a:r>
              <a:rPr lang="en-US" sz="1200" dirty="0">
                <a:solidFill>
                  <a:schemeClr val="accent1"/>
                </a:solidFill>
                <a:latin typeface="Abadi MT Condensed Light" panose="020B0306030101010103" pitchFamily="34" charset="77"/>
              </a:rPr>
              <a:t>Match to the letter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AF3C7C-A872-3A43-2987-3432E1716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526226"/>
              </p:ext>
            </p:extLst>
          </p:nvPr>
        </p:nvGraphicFramePr>
        <p:xfrm>
          <a:off x="2437761" y="1686560"/>
          <a:ext cx="4218762" cy="845029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03127">
                  <a:extLst>
                    <a:ext uri="{9D8B030D-6E8A-4147-A177-3AD203B41FA5}">
                      <a16:colId xmlns:a16="http://schemas.microsoft.com/office/drawing/2014/main" val="1044231755"/>
                    </a:ext>
                  </a:extLst>
                </a:gridCol>
                <a:gridCol w="703127">
                  <a:extLst>
                    <a:ext uri="{9D8B030D-6E8A-4147-A177-3AD203B41FA5}">
                      <a16:colId xmlns:a16="http://schemas.microsoft.com/office/drawing/2014/main" val="1149458035"/>
                    </a:ext>
                  </a:extLst>
                </a:gridCol>
                <a:gridCol w="703127">
                  <a:extLst>
                    <a:ext uri="{9D8B030D-6E8A-4147-A177-3AD203B41FA5}">
                      <a16:colId xmlns:a16="http://schemas.microsoft.com/office/drawing/2014/main" val="770398093"/>
                    </a:ext>
                  </a:extLst>
                </a:gridCol>
                <a:gridCol w="703127">
                  <a:extLst>
                    <a:ext uri="{9D8B030D-6E8A-4147-A177-3AD203B41FA5}">
                      <a16:colId xmlns:a16="http://schemas.microsoft.com/office/drawing/2014/main" val="3771436139"/>
                    </a:ext>
                  </a:extLst>
                </a:gridCol>
                <a:gridCol w="703127">
                  <a:extLst>
                    <a:ext uri="{9D8B030D-6E8A-4147-A177-3AD203B41FA5}">
                      <a16:colId xmlns:a16="http://schemas.microsoft.com/office/drawing/2014/main" val="4292175930"/>
                    </a:ext>
                  </a:extLst>
                </a:gridCol>
                <a:gridCol w="703127">
                  <a:extLst>
                    <a:ext uri="{9D8B030D-6E8A-4147-A177-3AD203B41FA5}">
                      <a16:colId xmlns:a16="http://schemas.microsoft.com/office/drawing/2014/main" val="641803349"/>
                    </a:ext>
                  </a:extLst>
                </a:gridCol>
              </a:tblGrid>
              <a:tr h="34408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Digit 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117499"/>
                  </a:ext>
                </a:extLst>
              </a:tr>
              <a:tr h="418309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Letter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088545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C5B7567-5145-D1E0-38BF-2EBA0F73B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40725"/>
              </p:ext>
            </p:extLst>
          </p:nvPr>
        </p:nvGraphicFramePr>
        <p:xfrm>
          <a:off x="1130966" y="8788030"/>
          <a:ext cx="457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">
                  <a:extLst>
                    <a:ext uri="{9D8B030D-6E8A-4147-A177-3AD203B41FA5}">
                      <a16:colId xmlns:a16="http://schemas.microsoft.com/office/drawing/2014/main" val="184657578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86451564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39983808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50362514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2090647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92540851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28730043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032531795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78039237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22435119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51238204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49352550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197831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45875590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90042439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4128437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5516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34FE52E-B3DC-D23A-4FB3-ADB606C35C11}"/>
              </a:ext>
            </a:extLst>
          </p:cNvPr>
          <p:cNvSpPr txBox="1"/>
          <p:nvPr/>
        </p:nvSpPr>
        <p:spPr>
          <a:xfrm>
            <a:off x="2336553" y="9237719"/>
            <a:ext cx="1728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badi MT Condensed Light" panose="020B0306030101010103" pitchFamily="34" charset="77"/>
              </a:rPr>
              <a:t>What is the secrete sentence?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74F4158-EB4F-2DDA-A58C-AE17B3893B99}"/>
              </a:ext>
            </a:extLst>
          </p:cNvPr>
          <p:cNvSpPr/>
          <p:nvPr/>
        </p:nvSpPr>
        <p:spPr>
          <a:xfrm>
            <a:off x="526774" y="8686800"/>
            <a:ext cx="5784575" cy="827918"/>
          </a:xfrm>
          <a:prstGeom prst="roundRect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840A29-6E9D-36FD-9FE9-F434BA93013D}"/>
              </a:ext>
            </a:extLst>
          </p:cNvPr>
          <p:cNvSpPr txBox="1"/>
          <p:nvPr/>
        </p:nvSpPr>
        <p:spPr>
          <a:xfrm>
            <a:off x="2437761" y="8331554"/>
            <a:ext cx="1649811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badi MT Condensed Light" panose="020B0306030101010103" pitchFamily="34" charset="77"/>
              </a:rPr>
              <a:t>SECRET SENTENCE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5DF60DF-0637-119E-CE36-6AE1CB089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794696"/>
              </p:ext>
            </p:extLst>
          </p:nvPr>
        </p:nvGraphicFramePr>
        <p:xfrm>
          <a:off x="180224" y="2922106"/>
          <a:ext cx="6476301" cy="511727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91586">
                  <a:extLst>
                    <a:ext uri="{9D8B030D-6E8A-4147-A177-3AD203B41FA5}">
                      <a16:colId xmlns:a16="http://schemas.microsoft.com/office/drawing/2014/main" val="1840564531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1419412249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782635365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1714607546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85248509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445388706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4156105053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2045842905"/>
                    </a:ext>
                  </a:extLst>
                </a:gridCol>
                <a:gridCol w="467061">
                  <a:extLst>
                    <a:ext uri="{9D8B030D-6E8A-4147-A177-3AD203B41FA5}">
                      <a16:colId xmlns:a16="http://schemas.microsoft.com/office/drawing/2014/main" val="3731576220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446182782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1102951192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342671004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1629359426"/>
                    </a:ext>
                  </a:extLst>
                </a:gridCol>
                <a:gridCol w="519925">
                  <a:extLst>
                    <a:ext uri="{9D8B030D-6E8A-4147-A177-3AD203B41FA5}">
                      <a16:colId xmlns:a16="http://schemas.microsoft.com/office/drawing/2014/main" val="1122201830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906924829"/>
                    </a:ext>
                  </a:extLst>
                </a:gridCol>
                <a:gridCol w="398697">
                  <a:extLst>
                    <a:ext uri="{9D8B030D-6E8A-4147-A177-3AD203B41FA5}">
                      <a16:colId xmlns:a16="http://schemas.microsoft.com/office/drawing/2014/main" val="3295863956"/>
                    </a:ext>
                  </a:extLst>
                </a:gridCol>
              </a:tblGrid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81872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934947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005782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652613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98063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231978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2238782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037883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D779288B-E670-4B0A-8549-F12A7A730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5" y="3108726"/>
            <a:ext cx="239493" cy="3624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7A7E87-A740-EA94-BD12-053BEFDAB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5" y="4392585"/>
            <a:ext cx="239493" cy="362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82D5CA-2C1A-6BDC-7F6B-B077F166A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75" y="5601052"/>
            <a:ext cx="239493" cy="3624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4448E68-AFC6-32E5-03EC-B28447EF9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12" y="6931941"/>
            <a:ext cx="239493" cy="3624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FD6ECB4-17A7-ABAF-2B14-143A052F3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408" y="6931941"/>
            <a:ext cx="239493" cy="3624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B8A2AA-9A92-6289-5772-173D8A217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005" y="5659218"/>
            <a:ext cx="239493" cy="3624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1DE0F1-FC91-407F-6A73-0D16112FB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727" y="4425392"/>
            <a:ext cx="239493" cy="3624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DAB2A98-0657-C3C7-3D92-8BE262D30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004" y="3161996"/>
            <a:ext cx="239493" cy="3624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A507A9D-F659-83AC-3E91-76ADAD616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702" y="3694009"/>
            <a:ext cx="239493" cy="42576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8417FE5-4F02-22D3-AF48-3CB8CED06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855" y="4937951"/>
            <a:ext cx="239493" cy="42576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E7F6DFF-AABE-5AC5-9052-CC0CE8FF8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894" y="6234852"/>
            <a:ext cx="239493" cy="42576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80B82DA-F479-057F-3E04-CF9D61FE8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12" y="7545367"/>
            <a:ext cx="239493" cy="42576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0603138-7A2D-FFD6-4EBB-63B0D6612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2750" y="7501988"/>
            <a:ext cx="239493" cy="42576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D617711-4E05-B1C0-00A3-91B40E9BE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941" y="6268162"/>
            <a:ext cx="239493" cy="42576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E9B450C-8B23-FF84-AB20-6318C8FB7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894" y="4979016"/>
            <a:ext cx="239493" cy="42576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93FCAAC-F315-587E-676D-504B1F0B0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0483" y="3732043"/>
            <a:ext cx="239493" cy="42576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AB83B72-5032-0962-F45D-6D81E50C8167}"/>
              </a:ext>
            </a:extLst>
          </p:cNvPr>
          <p:cNvSpPr txBox="1"/>
          <p:nvPr/>
        </p:nvSpPr>
        <p:spPr>
          <a:xfrm>
            <a:off x="5702966" y="106441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@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一二七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65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D96CE-171A-2B33-2AA8-AB4A9EA1E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617,600+ Crazy Stock Illustrations, Royalty-Free Vector Graphics &amp; Clip Art  - iStock | Funny, Crazy face, Quirky">
            <a:extLst>
              <a:ext uri="{FF2B5EF4-FFF2-40B4-BE49-F238E27FC236}">
                <a16:creationId xmlns:a16="http://schemas.microsoft.com/office/drawing/2014/main" id="{6F6741A7-48B0-11DA-78CD-BF7995662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2508"/>
            <a:ext cx="1209902" cy="1209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2071CF20-7E3A-1279-71A1-EE973CD41C32}"/>
              </a:ext>
            </a:extLst>
          </p:cNvPr>
          <p:cNvGraphicFramePr>
            <a:graphicFrameLocks noGrp="1"/>
          </p:cNvGraphicFramePr>
          <p:nvPr/>
        </p:nvGraphicFramePr>
        <p:xfrm>
          <a:off x="1132374" y="8851456"/>
          <a:ext cx="4572000" cy="276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">
                  <a:extLst>
                    <a:ext uri="{9D8B030D-6E8A-4147-A177-3AD203B41FA5}">
                      <a16:colId xmlns:a16="http://schemas.microsoft.com/office/drawing/2014/main" val="184657578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86451564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39983808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50362514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2090647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92540851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28730043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032531795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78039237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22435119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51238204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49352550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197831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45875590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90042439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412843791"/>
                    </a:ext>
                  </a:extLst>
                </a:gridCol>
              </a:tblGrid>
              <a:tr h="276999"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7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8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9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10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11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12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13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14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15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800" b="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Abadi MT Condensed Light" panose="020B0306030101010103" pitchFamily="34" charset="77"/>
                        </a:rPr>
                        <a:t>16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55164"/>
                  </a:ext>
                </a:extLst>
              </a:tr>
            </a:tbl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F27ECA50-C718-B291-62C4-67C3C16AAF6F}"/>
              </a:ext>
            </a:extLst>
          </p:cNvPr>
          <p:cNvGrpSpPr/>
          <p:nvPr/>
        </p:nvGrpSpPr>
        <p:grpSpPr>
          <a:xfrm>
            <a:off x="360449" y="2922664"/>
            <a:ext cx="6153463" cy="5130800"/>
            <a:chOff x="180225" y="3431831"/>
            <a:chExt cx="6153463" cy="513080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748815C-2D43-6515-D020-3F85FAF0E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130"/>
            <a:stretch>
              <a:fillRect/>
            </a:stretch>
          </p:blipFill>
          <p:spPr>
            <a:xfrm>
              <a:off x="3505532" y="3431831"/>
              <a:ext cx="2828156" cy="513080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9E04FFB-A442-5108-534A-4785203C5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49851"/>
            <a:stretch>
              <a:fillRect/>
            </a:stretch>
          </p:blipFill>
          <p:spPr>
            <a:xfrm>
              <a:off x="180225" y="3431831"/>
              <a:ext cx="2902218" cy="5130800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CC831198-B774-1B22-146C-AA188E1A0112}"/>
              </a:ext>
            </a:extLst>
          </p:cNvPr>
          <p:cNvSpPr/>
          <p:nvPr/>
        </p:nvSpPr>
        <p:spPr>
          <a:xfrm>
            <a:off x="180224" y="391282"/>
            <a:ext cx="649755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800" b="1" dirty="0">
                <a:ln/>
                <a:solidFill>
                  <a:schemeClr val="accent3"/>
                </a:solidFill>
                <a:latin typeface="Abadi" panose="020B0604020104020204" pitchFamily="34" charset="77"/>
              </a:rPr>
              <a:t>DIGIT-SUM SECRET SENTENCE PUZZLE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3AE046-A440-739E-26BE-731E0C92F06A}"/>
              </a:ext>
            </a:extLst>
          </p:cNvPr>
          <p:cNvSpPr txBox="1"/>
          <p:nvPr/>
        </p:nvSpPr>
        <p:spPr>
          <a:xfrm>
            <a:off x="1477021" y="940868"/>
            <a:ext cx="39039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badi MT Condensed Light" panose="020B0306030101010103" pitchFamily="34" charset="77"/>
              </a:rPr>
              <a:t>Solve each Problem. The answer will be a 2-digit number.</a:t>
            </a:r>
          </a:p>
          <a:p>
            <a:r>
              <a:rPr lang="en-US" sz="1400" dirty="0">
                <a:latin typeface="Abadi MT Condensed Light" panose="020B0306030101010103" pitchFamily="34" charset="77"/>
              </a:rPr>
              <a:t>Add the 2 digits together. Then match that number to a letter.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AFF1A21-4014-2815-B73D-813D5F66014B}"/>
              </a:ext>
            </a:extLst>
          </p:cNvPr>
          <p:cNvSpPr/>
          <p:nvPr/>
        </p:nvSpPr>
        <p:spPr>
          <a:xfrm>
            <a:off x="248192" y="1666568"/>
            <a:ext cx="2076566" cy="89965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b="1" dirty="0">
                <a:latin typeface="Abadi MT Condensed Light" panose="020B0306030101010103" pitchFamily="34" charset="77"/>
              </a:rPr>
              <a:t>Example</a:t>
            </a:r>
            <a:r>
              <a:rPr lang="en-US" sz="1200" dirty="0">
                <a:latin typeface="Abadi MT Condensed Light" panose="020B0306030101010103" pitchFamily="34" charset="77"/>
              </a:rPr>
              <a:t>:</a:t>
            </a:r>
          </a:p>
          <a:p>
            <a:r>
              <a:rPr lang="en-US" sz="1200" dirty="0">
                <a:latin typeface="Abadi MT Condensed Light" panose="020B0306030101010103" pitchFamily="34" charset="77"/>
              </a:rPr>
              <a:t>21 – 11 = 10 </a:t>
            </a:r>
          </a:p>
          <a:p>
            <a:r>
              <a:rPr lang="en-US" sz="1200" dirty="0">
                <a:latin typeface="Abadi MT Condensed Light" panose="020B0306030101010103" pitchFamily="34" charset="77"/>
              </a:rPr>
              <a:t>1 + 0 = 1</a:t>
            </a:r>
          </a:p>
          <a:p>
            <a:r>
              <a:rPr lang="en-US" sz="1200" dirty="0">
                <a:latin typeface="Abadi MT Condensed Light" panose="020B0306030101010103" pitchFamily="34" charset="77"/>
              </a:rPr>
              <a:t>1 </a:t>
            </a:r>
            <a:r>
              <a:rPr lang="en-US" sz="1200" dirty="0">
                <a:latin typeface="Abadi MT Condensed Light" panose="020B0306030101010103" pitchFamily="34" charset="77"/>
                <a:sym typeface="Wingdings" pitchFamily="2" charset="2"/>
              </a:rPr>
              <a:t></a:t>
            </a:r>
            <a:r>
              <a:rPr lang="en-US" sz="1200" dirty="0">
                <a:latin typeface="Abadi MT Condensed Light" panose="020B0306030101010103" pitchFamily="34" charset="77"/>
              </a:rPr>
              <a:t>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71AEB8-F707-7652-4604-748171C82D9F}"/>
              </a:ext>
            </a:extLst>
          </p:cNvPr>
          <p:cNvSpPr txBox="1"/>
          <p:nvPr/>
        </p:nvSpPr>
        <p:spPr>
          <a:xfrm>
            <a:off x="1209902" y="1866622"/>
            <a:ext cx="1114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accent1"/>
                </a:solidFill>
                <a:latin typeface="Abadi MT Condensed Light" panose="020B0306030101010103" pitchFamily="34" charset="77"/>
              </a:rPr>
              <a:t>2-digit answer</a:t>
            </a:r>
          </a:p>
          <a:p>
            <a:pPr algn="r"/>
            <a:r>
              <a:rPr lang="en-US" sz="1200" dirty="0">
                <a:solidFill>
                  <a:schemeClr val="accent1"/>
                </a:solidFill>
                <a:latin typeface="Abadi MT Condensed Light" panose="020B0306030101010103" pitchFamily="34" charset="77"/>
              </a:rPr>
              <a:t>Add the 2 digits</a:t>
            </a:r>
          </a:p>
          <a:p>
            <a:pPr algn="r"/>
            <a:r>
              <a:rPr lang="en-US" sz="1200" dirty="0">
                <a:solidFill>
                  <a:schemeClr val="accent1"/>
                </a:solidFill>
                <a:latin typeface="Abadi MT Condensed Light" panose="020B0306030101010103" pitchFamily="34" charset="77"/>
              </a:rPr>
              <a:t>Match to the code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DDB6BAC-7F09-49B0-19C1-FE95A59C7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037141"/>
              </p:ext>
            </p:extLst>
          </p:nvPr>
        </p:nvGraphicFramePr>
        <p:xfrm>
          <a:off x="2437761" y="1686560"/>
          <a:ext cx="4218759" cy="845029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559439">
                  <a:extLst>
                    <a:ext uri="{9D8B030D-6E8A-4147-A177-3AD203B41FA5}">
                      <a16:colId xmlns:a16="http://schemas.microsoft.com/office/drawing/2014/main" val="104423175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149458035"/>
                    </a:ext>
                  </a:extLst>
                </a:gridCol>
                <a:gridCol w="389614">
                  <a:extLst>
                    <a:ext uri="{9D8B030D-6E8A-4147-A177-3AD203B41FA5}">
                      <a16:colId xmlns:a16="http://schemas.microsoft.com/office/drawing/2014/main" val="770398093"/>
                    </a:ext>
                  </a:extLst>
                </a:gridCol>
                <a:gridCol w="468751">
                  <a:extLst>
                    <a:ext uri="{9D8B030D-6E8A-4147-A177-3AD203B41FA5}">
                      <a16:colId xmlns:a16="http://schemas.microsoft.com/office/drawing/2014/main" val="3771436139"/>
                    </a:ext>
                  </a:extLst>
                </a:gridCol>
                <a:gridCol w="468751">
                  <a:extLst>
                    <a:ext uri="{9D8B030D-6E8A-4147-A177-3AD203B41FA5}">
                      <a16:colId xmlns:a16="http://schemas.microsoft.com/office/drawing/2014/main" val="4292175930"/>
                    </a:ext>
                  </a:extLst>
                </a:gridCol>
                <a:gridCol w="468751">
                  <a:extLst>
                    <a:ext uri="{9D8B030D-6E8A-4147-A177-3AD203B41FA5}">
                      <a16:colId xmlns:a16="http://schemas.microsoft.com/office/drawing/2014/main" val="641803349"/>
                    </a:ext>
                  </a:extLst>
                </a:gridCol>
                <a:gridCol w="468751">
                  <a:extLst>
                    <a:ext uri="{9D8B030D-6E8A-4147-A177-3AD203B41FA5}">
                      <a16:colId xmlns:a16="http://schemas.microsoft.com/office/drawing/2014/main" val="949345505"/>
                    </a:ext>
                  </a:extLst>
                </a:gridCol>
                <a:gridCol w="468751">
                  <a:extLst>
                    <a:ext uri="{9D8B030D-6E8A-4147-A177-3AD203B41FA5}">
                      <a16:colId xmlns:a16="http://schemas.microsoft.com/office/drawing/2014/main" val="2350389798"/>
                    </a:ext>
                  </a:extLst>
                </a:gridCol>
                <a:gridCol w="468751">
                  <a:extLst>
                    <a:ext uri="{9D8B030D-6E8A-4147-A177-3AD203B41FA5}">
                      <a16:colId xmlns:a16="http://schemas.microsoft.com/office/drawing/2014/main" val="2080244892"/>
                    </a:ext>
                  </a:extLst>
                </a:gridCol>
              </a:tblGrid>
              <a:tr h="344085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Digit Sum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3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4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6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9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16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17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18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117499"/>
                  </a:ext>
                </a:extLst>
              </a:tr>
              <a:tr h="418309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/>
                        <a:t>Letter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C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D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F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I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Y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Z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R</a:t>
                      </a:r>
                      <a:endParaRPr 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088545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B623B5C-77A1-5C24-203D-82D6607813EE}"/>
              </a:ext>
            </a:extLst>
          </p:cNvPr>
          <p:cNvGraphicFramePr>
            <a:graphicFrameLocks noGrp="1"/>
          </p:cNvGraphicFramePr>
          <p:nvPr/>
        </p:nvGraphicFramePr>
        <p:xfrm>
          <a:off x="1130966" y="8788030"/>
          <a:ext cx="457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">
                  <a:extLst>
                    <a:ext uri="{9D8B030D-6E8A-4147-A177-3AD203B41FA5}">
                      <a16:colId xmlns:a16="http://schemas.microsoft.com/office/drawing/2014/main" val="184657578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86451564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39983808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50362514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209064702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92540851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28730043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032531795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78039237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224351193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51238204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493525504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1978317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1458755908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900424390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34128437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5516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4191E22-89D3-7716-3DE6-41059953BCC7}"/>
              </a:ext>
            </a:extLst>
          </p:cNvPr>
          <p:cNvSpPr txBox="1"/>
          <p:nvPr/>
        </p:nvSpPr>
        <p:spPr>
          <a:xfrm>
            <a:off x="2336553" y="9237719"/>
            <a:ext cx="1728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badi MT Condensed Light" panose="020B0306030101010103" pitchFamily="34" charset="77"/>
              </a:rPr>
              <a:t>What is the secrete sentence?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9F6642D-E5FA-4A1D-0B76-5DEEFCB758DF}"/>
              </a:ext>
            </a:extLst>
          </p:cNvPr>
          <p:cNvSpPr/>
          <p:nvPr/>
        </p:nvSpPr>
        <p:spPr>
          <a:xfrm>
            <a:off x="526774" y="8686800"/>
            <a:ext cx="5784575" cy="827918"/>
          </a:xfrm>
          <a:prstGeom prst="roundRect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badi MT Condensed Light" panose="020B03060301010101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69BB48-FB1A-76FE-AF64-9C1B166A8DDF}"/>
              </a:ext>
            </a:extLst>
          </p:cNvPr>
          <p:cNvSpPr txBox="1"/>
          <p:nvPr/>
        </p:nvSpPr>
        <p:spPr>
          <a:xfrm>
            <a:off x="2437761" y="8331554"/>
            <a:ext cx="1649811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badi MT Condensed Light" panose="020B0306030101010103" pitchFamily="34" charset="77"/>
              </a:rPr>
              <a:t>SECRET SENTENCE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150ABDA-5948-8CD2-8E9C-D0AACDA80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820330"/>
              </p:ext>
            </p:extLst>
          </p:nvPr>
        </p:nvGraphicFramePr>
        <p:xfrm>
          <a:off x="180224" y="2922106"/>
          <a:ext cx="6476301" cy="511727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391586">
                  <a:extLst>
                    <a:ext uri="{9D8B030D-6E8A-4147-A177-3AD203B41FA5}">
                      <a16:colId xmlns:a16="http://schemas.microsoft.com/office/drawing/2014/main" val="1840564531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1419412249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782635365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1714607546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85248509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445388706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4156105053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2045842905"/>
                    </a:ext>
                  </a:extLst>
                </a:gridCol>
                <a:gridCol w="467061">
                  <a:extLst>
                    <a:ext uri="{9D8B030D-6E8A-4147-A177-3AD203B41FA5}">
                      <a16:colId xmlns:a16="http://schemas.microsoft.com/office/drawing/2014/main" val="3731576220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446182782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1102951192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342671004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1629359426"/>
                    </a:ext>
                  </a:extLst>
                </a:gridCol>
                <a:gridCol w="519925">
                  <a:extLst>
                    <a:ext uri="{9D8B030D-6E8A-4147-A177-3AD203B41FA5}">
                      <a16:colId xmlns:a16="http://schemas.microsoft.com/office/drawing/2014/main" val="1122201830"/>
                    </a:ext>
                  </a:extLst>
                </a:gridCol>
                <a:gridCol w="391586">
                  <a:extLst>
                    <a:ext uri="{9D8B030D-6E8A-4147-A177-3AD203B41FA5}">
                      <a16:colId xmlns:a16="http://schemas.microsoft.com/office/drawing/2014/main" val="3906924829"/>
                    </a:ext>
                  </a:extLst>
                </a:gridCol>
                <a:gridCol w="398697">
                  <a:extLst>
                    <a:ext uri="{9D8B030D-6E8A-4147-A177-3AD203B41FA5}">
                      <a16:colId xmlns:a16="http://schemas.microsoft.com/office/drawing/2014/main" val="3295863956"/>
                    </a:ext>
                  </a:extLst>
                </a:gridCol>
              </a:tblGrid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9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38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23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81872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52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47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100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934947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41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005782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47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42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48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35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4652613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39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40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64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54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98063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97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9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231978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2238782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037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9071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9B4FDC-3682-AFAF-277A-B69162A2D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958909"/>
              </p:ext>
            </p:extLst>
          </p:nvPr>
        </p:nvGraphicFramePr>
        <p:xfrm>
          <a:off x="501584" y="2057004"/>
          <a:ext cx="5854831" cy="511727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402028">
                  <a:extLst>
                    <a:ext uri="{9D8B030D-6E8A-4147-A177-3AD203B41FA5}">
                      <a16:colId xmlns:a16="http://schemas.microsoft.com/office/drawing/2014/main" val="1840564531"/>
                    </a:ext>
                  </a:extLst>
                </a:gridCol>
                <a:gridCol w="402028">
                  <a:extLst>
                    <a:ext uri="{9D8B030D-6E8A-4147-A177-3AD203B41FA5}">
                      <a16:colId xmlns:a16="http://schemas.microsoft.com/office/drawing/2014/main" val="1419412249"/>
                    </a:ext>
                  </a:extLst>
                </a:gridCol>
                <a:gridCol w="402028">
                  <a:extLst>
                    <a:ext uri="{9D8B030D-6E8A-4147-A177-3AD203B41FA5}">
                      <a16:colId xmlns:a16="http://schemas.microsoft.com/office/drawing/2014/main" val="3782635365"/>
                    </a:ext>
                  </a:extLst>
                </a:gridCol>
                <a:gridCol w="402028">
                  <a:extLst>
                    <a:ext uri="{9D8B030D-6E8A-4147-A177-3AD203B41FA5}">
                      <a16:colId xmlns:a16="http://schemas.microsoft.com/office/drawing/2014/main" val="1714607546"/>
                    </a:ext>
                  </a:extLst>
                </a:gridCol>
                <a:gridCol w="402028">
                  <a:extLst>
                    <a:ext uri="{9D8B030D-6E8A-4147-A177-3AD203B41FA5}">
                      <a16:colId xmlns:a16="http://schemas.microsoft.com/office/drawing/2014/main" val="385248509"/>
                    </a:ext>
                  </a:extLst>
                </a:gridCol>
                <a:gridCol w="402028">
                  <a:extLst>
                    <a:ext uri="{9D8B030D-6E8A-4147-A177-3AD203B41FA5}">
                      <a16:colId xmlns:a16="http://schemas.microsoft.com/office/drawing/2014/main" val="3445388706"/>
                    </a:ext>
                  </a:extLst>
                </a:gridCol>
                <a:gridCol w="402028">
                  <a:extLst>
                    <a:ext uri="{9D8B030D-6E8A-4147-A177-3AD203B41FA5}">
                      <a16:colId xmlns:a16="http://schemas.microsoft.com/office/drawing/2014/main" val="4156105053"/>
                    </a:ext>
                  </a:extLst>
                </a:gridCol>
                <a:gridCol w="479517">
                  <a:extLst>
                    <a:ext uri="{9D8B030D-6E8A-4147-A177-3AD203B41FA5}">
                      <a16:colId xmlns:a16="http://schemas.microsoft.com/office/drawing/2014/main" val="3731576220"/>
                    </a:ext>
                  </a:extLst>
                </a:gridCol>
                <a:gridCol w="402028">
                  <a:extLst>
                    <a:ext uri="{9D8B030D-6E8A-4147-A177-3AD203B41FA5}">
                      <a16:colId xmlns:a16="http://schemas.microsoft.com/office/drawing/2014/main" val="3342671004"/>
                    </a:ext>
                  </a:extLst>
                </a:gridCol>
                <a:gridCol w="402028">
                  <a:extLst>
                    <a:ext uri="{9D8B030D-6E8A-4147-A177-3AD203B41FA5}">
                      <a16:colId xmlns:a16="http://schemas.microsoft.com/office/drawing/2014/main" val="1629359426"/>
                    </a:ext>
                  </a:extLst>
                </a:gridCol>
                <a:gridCol w="533790">
                  <a:extLst>
                    <a:ext uri="{9D8B030D-6E8A-4147-A177-3AD203B41FA5}">
                      <a16:colId xmlns:a16="http://schemas.microsoft.com/office/drawing/2014/main" val="1122201830"/>
                    </a:ext>
                  </a:extLst>
                </a:gridCol>
                <a:gridCol w="402028">
                  <a:extLst>
                    <a:ext uri="{9D8B030D-6E8A-4147-A177-3AD203B41FA5}">
                      <a16:colId xmlns:a16="http://schemas.microsoft.com/office/drawing/2014/main" val="3906924829"/>
                    </a:ext>
                  </a:extLst>
                </a:gridCol>
                <a:gridCol w="410622">
                  <a:extLst>
                    <a:ext uri="{9D8B030D-6E8A-4147-A177-3AD203B41FA5}">
                      <a16:colId xmlns:a16="http://schemas.microsoft.com/office/drawing/2014/main" val="3295863956"/>
                    </a:ext>
                  </a:extLst>
                </a:gridCol>
                <a:gridCol w="410622">
                  <a:extLst>
                    <a:ext uri="{9D8B030D-6E8A-4147-A177-3AD203B41FA5}">
                      <a16:colId xmlns:a16="http://schemas.microsoft.com/office/drawing/2014/main" val="360113762"/>
                    </a:ext>
                  </a:extLst>
                </a:gridCol>
              </a:tblGrid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81872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934947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005782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652613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198063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231978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238782"/>
                  </a:ext>
                </a:extLst>
              </a:tr>
              <a:tr h="63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96B24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  <a:sym typeface="Wingdings" pitchFamily="2" charset="2"/>
                        </a:rPr>
                        <a:t>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96B24"/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037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433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4321684-9CDB-5253-DB7E-3504CD6F6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250"/>
            <a:ext cx="6850116" cy="9683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FD6E5A-7D88-BE51-686C-7CFD3187D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994" y="4623082"/>
            <a:ext cx="201687" cy="1496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4B27FE-1DE2-CAB0-65C0-E1A2AF5E06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991" y="4722472"/>
            <a:ext cx="209495" cy="1496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D292A6-6539-AFAC-4433-E2971E4D6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1382" y="4633407"/>
            <a:ext cx="210516" cy="1781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2A16BC-DCFC-FFF0-2173-C4FDFBAA71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8743" y="4623082"/>
            <a:ext cx="259097" cy="21051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2B39E1-1DC3-CE6B-2067-B17D7DFA0DC5}"/>
              </a:ext>
            </a:extLst>
          </p:cNvPr>
          <p:cNvSpPr txBox="1"/>
          <p:nvPr/>
        </p:nvSpPr>
        <p:spPr>
          <a:xfrm>
            <a:off x="5763370" y="8117350"/>
            <a:ext cx="77296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If you </a:t>
            </a:r>
          </a:p>
          <a:p>
            <a:r>
              <a:rPr lang="en-US" sz="1100" dirty="0"/>
              <a:t>reach D4,</a:t>
            </a:r>
          </a:p>
          <a:p>
            <a:r>
              <a:rPr lang="en-US" sz="1100" dirty="0"/>
              <a:t>you will </a:t>
            </a:r>
          </a:p>
          <a:p>
            <a:r>
              <a:rPr lang="en-US" sz="1100" dirty="0"/>
              <a:t>bounce </a:t>
            </a:r>
          </a:p>
          <a:p>
            <a:r>
              <a:rPr lang="en-US" sz="1100" dirty="0"/>
              <a:t>Back.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4B321D-4635-AD22-19EC-78919372C57F}"/>
              </a:ext>
            </a:extLst>
          </p:cNvPr>
          <p:cNvSpPr txBox="1"/>
          <p:nvPr/>
        </p:nvSpPr>
        <p:spPr>
          <a:xfrm>
            <a:off x="4468743" y="3131447"/>
            <a:ext cx="780983" cy="2616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050" b="1" dirty="0"/>
              <a:t>28 + 12 =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C0D866-100A-F9B3-4282-B8427829BC5E}"/>
              </a:ext>
            </a:extLst>
          </p:cNvPr>
          <p:cNvSpPr txBox="1"/>
          <p:nvPr/>
        </p:nvSpPr>
        <p:spPr>
          <a:xfrm>
            <a:off x="5426837" y="5125381"/>
            <a:ext cx="667702" cy="25391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050" b="1" dirty="0"/>
              <a:t>53 + 38=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CFFB55-EFBB-6CB6-DAF4-E059BC9A32FA}"/>
              </a:ext>
            </a:extLst>
          </p:cNvPr>
          <p:cNvSpPr txBox="1"/>
          <p:nvPr/>
        </p:nvSpPr>
        <p:spPr>
          <a:xfrm>
            <a:off x="2718990" y="7060699"/>
            <a:ext cx="706068" cy="25391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050" b="1" dirty="0"/>
              <a:t>87 – 36 =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F4EBDBAA-FEBB-5B88-075E-25D039902482}"/>
              </a:ext>
            </a:extLst>
          </p:cNvPr>
          <p:cNvCxnSpPr/>
          <p:nvPr/>
        </p:nvCxnSpPr>
        <p:spPr>
          <a:xfrm rot="10800000" flipV="1">
            <a:off x="2274073" y="6233822"/>
            <a:ext cx="3253608" cy="421419"/>
          </a:xfrm>
          <a:prstGeom prst="bentConnector3">
            <a:avLst>
              <a:gd name="adj1" fmla="val 99854"/>
            </a:avLst>
          </a:prstGeom>
          <a:ln w="762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D563110-DE16-2992-CF64-1C53D2678CCB}"/>
              </a:ext>
            </a:extLst>
          </p:cNvPr>
          <p:cNvSpPr txBox="1"/>
          <p:nvPr/>
        </p:nvSpPr>
        <p:spPr>
          <a:xfrm>
            <a:off x="5760688" y="57728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@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一二七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678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7B12A-5375-197F-F5E9-AA23AB4EE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6902BF-B742-23D3-82C1-C33936828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250"/>
            <a:ext cx="6850116" cy="96837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5CB8B63-80A6-B943-B48B-DB3DD854828B}"/>
              </a:ext>
            </a:extLst>
          </p:cNvPr>
          <p:cNvSpPr txBox="1"/>
          <p:nvPr/>
        </p:nvSpPr>
        <p:spPr>
          <a:xfrm>
            <a:off x="5684405" y="7972609"/>
            <a:ext cx="10867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After cell 30, you will encounter cells D1 to D4. If you reach D4, your turn ends with a bounce back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976B55-AE24-5C04-CE70-999142696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824" y="1921372"/>
            <a:ext cx="514952" cy="241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DF5C44-CB1B-91DA-6980-E26692F55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143" y="1890971"/>
            <a:ext cx="514952" cy="241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8279E6-63C6-5AAB-4D5D-3708A94E0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067" y="1921372"/>
            <a:ext cx="514952" cy="241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50AD4D-CB09-F550-3E4A-5E88C8EE2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837" y="2832651"/>
            <a:ext cx="514952" cy="241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91E438-C0A3-93C0-BBCA-DCD843D9F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963" y="2953301"/>
            <a:ext cx="514952" cy="241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5D6FCB-2B31-9665-D155-D2FC8C68A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573" y="2983064"/>
            <a:ext cx="514952" cy="241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07C044-547C-F66E-AED3-4C7732D5D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815" y="3992746"/>
            <a:ext cx="514952" cy="2413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D99479-D4B0-69B2-E800-32CD2D337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164" y="3975822"/>
            <a:ext cx="514952" cy="241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865AD2-0B62-49A1-638A-84FAE3CF5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681" y="4010968"/>
            <a:ext cx="514952" cy="241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B63625B-E363-D681-E317-83CEFC268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095" y="4939680"/>
            <a:ext cx="514952" cy="2413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D9B488-F330-D03C-2B9C-45EEBB304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597" y="4953000"/>
            <a:ext cx="514952" cy="2413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A0EE60C-03DB-7FDB-2B29-826D7CFB4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597" y="5828365"/>
            <a:ext cx="514952" cy="2413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424D327-0173-90E1-466D-67900A5CF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898" y="5828365"/>
            <a:ext cx="514952" cy="2413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F235CD9-4573-534E-68A5-B55115274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390" y="5852671"/>
            <a:ext cx="514952" cy="2413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0E555B3-862D-E300-E808-2307CE0E2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401" y="6849701"/>
            <a:ext cx="514952" cy="2413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BB71693-042E-E5C6-FAE2-1DF9BE902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8485" y="7399653"/>
            <a:ext cx="530505" cy="21051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E4735B8-DA17-CC0C-4956-C1AD4A897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1597" y="7403941"/>
            <a:ext cx="530505" cy="21051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8310DA9-2C83-DD12-F4D3-7BDCF78D9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849" y="7403941"/>
            <a:ext cx="530505" cy="21051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D7A9B4F-130A-289D-1F50-3809D4B58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597" y="6812899"/>
            <a:ext cx="514952" cy="2413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5D309CD-91D3-D23C-B81C-4B6436684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1748" y="1744879"/>
            <a:ext cx="502606" cy="39967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A498FAC-628A-3599-526C-102951866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7666" y="3777909"/>
            <a:ext cx="502606" cy="39967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F9C093A-AA7E-81FD-E763-25F9DF7DA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8990" y="4636226"/>
            <a:ext cx="649659" cy="51661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A6ED7E8-B641-C97F-7DD6-052243C23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9468" y="5669991"/>
            <a:ext cx="502606" cy="39967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9F4B979-980E-32EA-EF7C-9AD06BCE88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067" y="6613062"/>
            <a:ext cx="502606" cy="39967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CCC5986-E8A4-D10F-FA47-CF56D9936B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8935" y="4719264"/>
            <a:ext cx="419100" cy="4826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FB965E4-059B-7B89-DF75-C5241499EB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471" y="4648655"/>
            <a:ext cx="419100" cy="4826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5A2645B-F674-2155-2B4D-3260D9300F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6749" y="4662284"/>
            <a:ext cx="393700" cy="2667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85A69D8-9CAC-5312-2098-9CAE87A188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5293" y="4662284"/>
            <a:ext cx="228600" cy="3175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68F5A8E-9D0D-099B-F68A-B7303C07DF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5293" y="6717184"/>
            <a:ext cx="687340" cy="2413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791FB18-466E-1F94-32B3-E7A5A665D2C4}"/>
              </a:ext>
            </a:extLst>
          </p:cNvPr>
          <p:cNvSpPr txBox="1"/>
          <p:nvPr/>
        </p:nvSpPr>
        <p:spPr>
          <a:xfrm>
            <a:off x="1867464" y="4691390"/>
            <a:ext cx="3353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20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12821E-C634-03A3-634D-288CF399B8B6}"/>
              </a:ext>
            </a:extLst>
          </p:cNvPr>
          <p:cNvSpPr txBox="1"/>
          <p:nvPr/>
        </p:nvSpPr>
        <p:spPr>
          <a:xfrm>
            <a:off x="2677501" y="4665216"/>
            <a:ext cx="3289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5C486-87C6-2E8F-2AD5-4B838832CCD5}"/>
              </a:ext>
            </a:extLst>
          </p:cNvPr>
          <p:cNvSpPr txBox="1"/>
          <p:nvPr/>
        </p:nvSpPr>
        <p:spPr>
          <a:xfrm>
            <a:off x="3521930" y="4651437"/>
            <a:ext cx="3289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A2AA43-9FF3-64C2-C6D0-8F8C0E6DB1B1}"/>
              </a:ext>
            </a:extLst>
          </p:cNvPr>
          <p:cNvSpPr txBox="1"/>
          <p:nvPr/>
        </p:nvSpPr>
        <p:spPr>
          <a:xfrm>
            <a:off x="4418234" y="4610386"/>
            <a:ext cx="3289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5AF656-6497-5F1D-7747-3EA5CD674461}"/>
              </a:ext>
            </a:extLst>
          </p:cNvPr>
          <p:cNvSpPr txBox="1"/>
          <p:nvPr/>
        </p:nvSpPr>
        <p:spPr>
          <a:xfrm>
            <a:off x="5286066" y="4594424"/>
            <a:ext cx="3289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16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4EE8C20A-C083-FCFF-D5D5-FEA76B4149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1179" y="3171079"/>
            <a:ext cx="528840" cy="2413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F9D220D-73F6-D152-C6D2-CF87D19B03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4807" y="5162400"/>
            <a:ext cx="528840" cy="2413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517B2C8-E469-8E94-EB4F-66BA30214B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41969" y="7091001"/>
            <a:ext cx="528840" cy="2413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E6CD518-5AAA-09F8-CB4D-AD92BD36ADD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3358" y="8368256"/>
            <a:ext cx="1038708" cy="8311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BA2299-7296-A974-2321-4ABE83DB2D7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4694358" y="8499700"/>
            <a:ext cx="666236" cy="55789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F985566-180B-AC19-CBDF-322D6DC04D8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83893" y="307600"/>
            <a:ext cx="1187258" cy="3961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77ED98E-6785-622F-A124-2C554B1DE3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04928" y="544133"/>
            <a:ext cx="1187258" cy="39618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FD16E65-CBC6-0316-5705-67E4103AF1F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8557" y="623961"/>
            <a:ext cx="672594" cy="39618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F312175-AB0D-FA6C-BF32-8C0E707908C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56456" y="606671"/>
            <a:ext cx="672594" cy="39618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AFBED85-078F-E0EC-5E8C-F9C68675C0F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91481" y="592449"/>
            <a:ext cx="672594" cy="3961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AF2F5C-4F4D-AE9E-31B1-EFDA7E9DE19C}"/>
              </a:ext>
            </a:extLst>
          </p:cNvPr>
          <p:cNvSpPr txBox="1"/>
          <p:nvPr/>
        </p:nvSpPr>
        <p:spPr>
          <a:xfrm>
            <a:off x="5698963" y="538224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@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一二七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109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</TotalTime>
  <Words>408</Words>
  <Application>Microsoft Macintosh PowerPoint</Application>
  <PresentationFormat>A4 Paper (210x297 mm)</PresentationFormat>
  <Paragraphs>259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Abadi</vt:lpstr>
      <vt:lpstr>Abadi MT Condensed Light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Yanhai XIONG</dc:creator>
  <cp:lastModifiedBy>Yanhai XIONG</cp:lastModifiedBy>
  <cp:revision>15</cp:revision>
  <cp:lastPrinted>2026-06-15T16:26:42Z</cp:lastPrinted>
  <dcterms:created xsi:type="dcterms:W3CDTF">2026-06-12T15:09:22Z</dcterms:created>
  <dcterms:modified xsi:type="dcterms:W3CDTF">2026-07-10T15:34:34Z</dcterms:modified>
</cp:coreProperties>
</file>